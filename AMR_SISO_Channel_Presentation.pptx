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ema Uygulanmış Stil 1 - Vurgu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876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Eren
Target time: 0:20
We study how AMR models behave when the channel is more realistic than AWGN.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Eren
Target time: 0:40
The engineering problem is robustness: can AMR still classify signals when the channel changes?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Muhammet
Target time: 0:35
We did not build from zero; we extended a known benchmark toward more practical SISO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Muhammet
Target time: 0:40
We keep the original dataset structure so comparisons stay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Erkam
Target time: 0:50
The key improvement is not just training another model; it is testing AMR under controlled, realistic channel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Erkam
Target time: 0:55
We compare three strategies: baseline, faded training, and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Batuhan
Target time: 1:05
The result is nuanced: fading does not always improve accuracy, but some model-channel pairs remain highly robust.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Batuhan
Target time: 1:00
Fine-tuning is most useful as adaptation, but its effect depends on model and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Batuhan
Target time: 1:05
The main insight is channel-specific robustness, not a single best model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Owner: Batuhan / Eren
Target time: 0:45
Our contribution is a more realistic robustness evaluation and a clearer view of where AMR models fail or hold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dsp.2022.10365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ithub.com/erigami-sl/AMR-UnderDifferentNoises-DL" TargetMode="External"/><Relationship Id="rId4" Type="http://schemas.openxmlformats.org/officeDocument/2006/relationships/hyperlink" Target="https://github.com/Richardzhangxx/AMR-Benchmar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31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MYZ 307E Project Presentation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" y="1170432"/>
            <a:ext cx="8778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Learning-Based Automatic Modulation Recognition under Different SISO Channel Conditions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Batuhan Gedik  |  Erkam Tuğ  |  Eren Söker  |  Muhammet Anıl Gülaz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36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 evaluation for AWGN, Rayleigh, and Rician SISO channels</a:t>
            </a:r>
            <a:endParaRPr lang="en-US" sz="125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9329B4C8-2854-4B0B-90CD-D0A0CFFB84D6}"/>
              </a:ext>
            </a:extLst>
          </p:cNvPr>
          <p:cNvGrpSpPr/>
          <p:nvPr/>
        </p:nvGrpSpPr>
        <p:grpSpPr>
          <a:xfrm>
            <a:off x="6251460" y="3730755"/>
            <a:ext cx="5196789" cy="2128330"/>
            <a:chOff x="7027119" y="3886200"/>
            <a:chExt cx="4343400" cy="1691640"/>
          </a:xfrm>
        </p:grpSpPr>
        <p:sp>
          <p:nvSpPr>
            <p:cNvPr id="8" name="Shape 6"/>
            <p:cNvSpPr/>
            <p:nvPr/>
          </p:nvSpPr>
          <p:spPr>
            <a:xfrm>
              <a:off x="7027119" y="3886200"/>
              <a:ext cx="4343400" cy="169164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0160">
              <a:solidFill>
                <a:srgbClr val="D8DEE9"/>
              </a:solidFill>
              <a:prstDash val="solid"/>
            </a:ln>
            <a:effectLst>
              <a:outerShdw blurRad="15240" dist="50800" dir="2700000" algn="bl" rotWithShape="0">
                <a:srgbClr val="C8D0DB">
                  <a:alpha val="18000"/>
                </a:srgbClr>
              </a:outerShdw>
            </a:effectLst>
          </p:spPr>
        </p:sp>
        <p:pic>
          <p:nvPicPr>
            <p:cNvPr id="9" name="Image 0" descr="C:\Users\loues\Documents\Yazılım\ai\AMR-UnderDifferentNoises-DL\presentation_assets\fig_02_project_pipelin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1127" y="3950208"/>
              <a:ext cx="4215384" cy="1563624"/>
            </a:xfrm>
            <a:prstGeom prst="rect">
              <a:avLst/>
            </a:prstGeom>
          </p:spPr>
        </p:pic>
      </p:grpSp>
      <p:sp>
        <p:nvSpPr>
          <p:cNvPr id="12" name="Shape 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1/10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AWGN-Only AMR Is Not Enough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7844" y="1417321"/>
            <a:ext cx="6548378" cy="16152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tr-TR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practical approach, the channel obtains different channel models; therefore, it can affect the efficiency of AMRs, which can lead to misconceptions for determining modulation types.</a:t>
            </a:r>
          </a:p>
          <a:p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Developing AMR (Automatic modulation recognition) for low SNR signals. And develop a more practically efficient model for different SISO channel conditions.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2/10</a:t>
            </a:r>
            <a:endParaRPr lang="en-US" sz="800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091D578F-5CF2-47AF-9E47-7279FB8B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828" y="3096574"/>
            <a:ext cx="5192124" cy="3098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Baseline and Starting Point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6931152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tr-TR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</a:t>
            </a: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Zhang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F.,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C.,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J.,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Y., &amp;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Zheng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F. (2022).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modulation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recognition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tr-TR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129, 103650. 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/>
              </a:rPr>
              <a:t>https://doi.org/10.1016/j.dsp.2022.103650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en-US" sz="1500" dirty="0"/>
          </a:p>
          <a:p>
            <a:r>
              <a:rPr lang="tr-TR" sz="150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r>
              <a:rPr lang="tr-TR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Repo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Richardzhangxx/AMR-Benchmark.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https://github.com/Richardzhangxx/AMR-Benchmark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tr-TR" sz="1500" dirty="0">
              <a:solidFill>
                <a:srgbClr val="111827"/>
              </a:solidFill>
              <a:ea typeface="Aptos" pitchFamily="34" charset="-122"/>
            </a:endParaRPr>
          </a:p>
          <a:p>
            <a:r>
              <a:rPr lang="tr-TR" sz="1500" b="1" dirty="0" err="1">
                <a:solidFill>
                  <a:srgbClr val="111827"/>
                </a:solidFill>
                <a:ea typeface="Aptos" pitchFamily="34" charset="-122"/>
              </a:rPr>
              <a:t>Our</a:t>
            </a:r>
            <a:r>
              <a:rPr lang="tr-TR" sz="1500" b="1" dirty="0">
                <a:solidFill>
                  <a:srgbClr val="111827"/>
                </a:solidFill>
                <a:ea typeface="Aptos" pitchFamily="34" charset="-122"/>
              </a:rPr>
              <a:t> </a:t>
            </a:r>
            <a:r>
              <a:rPr lang="tr-TR" sz="1500" b="1" dirty="0" err="1">
                <a:solidFill>
                  <a:srgbClr val="111827"/>
                </a:solidFill>
                <a:ea typeface="Aptos" pitchFamily="34" charset="-122"/>
              </a:rPr>
              <a:t>Github</a:t>
            </a:r>
            <a:r>
              <a:rPr lang="tr-TR" sz="1500" b="1" dirty="0">
                <a:solidFill>
                  <a:srgbClr val="111827"/>
                </a:solidFill>
                <a:ea typeface="Aptos" pitchFamily="34" charset="-122"/>
              </a:rPr>
              <a:t> Repo</a:t>
            </a:r>
            <a:r>
              <a:rPr lang="tr-TR" sz="1500" dirty="0">
                <a:solidFill>
                  <a:srgbClr val="111827"/>
                </a:solidFill>
                <a:ea typeface="Aptos" pitchFamily="34" charset="-122"/>
              </a:rPr>
              <a:t>: AMR-</a:t>
            </a:r>
            <a:r>
              <a:rPr lang="tr-TR" sz="1500" dirty="0" err="1">
                <a:solidFill>
                  <a:srgbClr val="111827"/>
                </a:solidFill>
                <a:ea typeface="Aptos" pitchFamily="34" charset="-122"/>
              </a:rPr>
              <a:t>UnderDifferentNoises</a:t>
            </a:r>
            <a:r>
              <a:rPr lang="tr-TR" sz="1500" dirty="0">
                <a:solidFill>
                  <a:srgbClr val="111827"/>
                </a:solidFill>
                <a:ea typeface="Aptos" pitchFamily="34" charset="-122"/>
              </a:rPr>
              <a:t>-DL  </a:t>
            </a:r>
          </a:p>
          <a:p>
            <a:r>
              <a:rPr lang="tr-TR" sz="1500" dirty="0">
                <a:solidFill>
                  <a:srgbClr val="111827"/>
                </a:solidFill>
                <a:ea typeface="Aptos" pitchFamily="34" charset="-122"/>
                <a:hlinkClick r:id="rId5"/>
              </a:rPr>
              <a:t>https://github.com/erigami-sl/AMR-UnderDifferentNoises-DL</a:t>
            </a:r>
            <a:endParaRPr lang="en-US" sz="1500" dirty="0"/>
          </a:p>
        </p:txBody>
      </p:sp>
      <p:pic>
        <p:nvPicPr>
          <p:cNvPr id="7" name="Image 0" descr="C:\Users\loues\Documents\Yazılım\ai\AMR-UnderDifferentNoises-DL\presentation_assets\fig_01_reference_and_contribution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8" y="2857500"/>
            <a:ext cx="5541262" cy="320062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C:\Users\loues\Documents\Yazılım\ai\AMR-UnderDifferentNoises-DL\presentation_assets\fig_03_dataset_channel_map.png"/>
          <p:cNvPicPr>
            <a:picLocks noChangeAspect="1"/>
          </p:cNvPicPr>
          <p:nvPr/>
        </p:nvPicPr>
        <p:blipFill rotWithShape="1">
          <a:blip r:embed="rId3"/>
          <a:srcRect t="31687" b="23367"/>
          <a:stretch/>
        </p:blipFill>
        <p:spPr>
          <a:xfrm>
            <a:off x="5226728" y="4409954"/>
            <a:ext cx="6477592" cy="168160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RadioML 2016.10a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6270" y="1591056"/>
            <a:ext cx="6131689" cy="28188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used the </a:t>
            </a:r>
            <a:r>
              <a:rPr lang="en-US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RadioML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2016.10a dataset as the common AMR benchmark.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contains 220,000 I/Q signal samples from 11 modulation classes across 20 SNR levels from -20 dB to +18 </a:t>
            </a:r>
            <a:r>
              <a:rPr lang="en-US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kept the original benchmark setup with signal normalization and a 60/20/20 train-validation-test split.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Since the original dataset mainly represents AWGN channel conditions, we generated additional versions with Rayleigh fading and Rician fading to test robustness under more realistic SISO channels.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C:\Users\loues\Documents\Yazılım\ai\AMR-UnderDifferentNoises-DL\presentation_assets\fig_05_fading_generation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608" y="3427214"/>
            <a:ext cx="4736592" cy="273584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 1: More Realistic Channel Conditions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6522720" cy="27358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benchmark mainly evaluates AMR under AWGN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extended the dataset by adding SISO fading channel models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  <a:endParaRPr lang="en-US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 fading for non-line-of-sight environments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Rician fading with K=3 for moderate line-of-sight</a:t>
            </a:r>
            <a:r>
              <a:rPr lang="tr-TR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Rician fading with K=10 for strong line-of-sight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ea typeface="Aptos" pitchFamily="34" charset="-122"/>
              </a:rPr>
              <a:t>The generated datasets preserve the original structure: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ea typeface="Aptos" pitchFamily="34" charset="-122"/>
              </a:rPr>
              <a:t>same modulation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ea typeface="Aptos" pitchFamily="34" charset="-122"/>
              </a:rPr>
              <a:t>same SNR range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ea typeface="Aptos" pitchFamily="34" charset="-122"/>
              </a:rPr>
              <a:t>same 2 × 128 I/Q tensor format</a:t>
            </a:r>
            <a:endParaRPr lang="tr-TR" sz="1500" dirty="0">
              <a:solidFill>
                <a:srgbClr val="111827"/>
              </a:solidFill>
              <a:ea typeface="Aptos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ea typeface="Aptos" pitchFamily="34" charset="-122"/>
              </a:rPr>
              <a:t>This allowed fair comparison between AWGN baseline performance and fading-channel robustness.</a:t>
            </a:r>
            <a:endParaRPr lang="tr-TR" sz="1500" dirty="0">
              <a:solidFill>
                <a:srgbClr val="111827"/>
              </a:solidFill>
              <a:ea typeface="Aptos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 2: Robust Training and Fine-Tuning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94080" y="1591056"/>
            <a:ext cx="5186680" cy="26294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reproduced and migrated the baseline models to a modern TensorFlow/</a:t>
            </a:r>
            <a:r>
              <a:rPr lang="en-US" sz="15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Keras</a:t>
            </a: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trained the models under multiple channel settings: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AWGN baseline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 fading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Rician K=3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Rician K=10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added a fine-tuning strategy: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AWGN-trained weights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the model to fading-channel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lower learning rate to preserve learned modulation features</a:t>
            </a:r>
            <a:endParaRPr lang="tr-TR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Accuracy vs. SNR</a:t>
            </a:r>
            <a:r>
              <a:rPr lang="tr-TR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tr-TR" sz="24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</a:t>
            </a:r>
            <a:r>
              <a:rPr lang="tr-TR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tr-TR" sz="24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</a:t>
            </a:r>
            <a:r>
              <a:rPr lang="tr-TR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tr-TR" sz="24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</a:t>
            </a:r>
            <a:r>
              <a:rPr lang="tr-TR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tr-TR" sz="24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Fading</a:t>
            </a:r>
            <a:r>
              <a:rPr lang="tr-TR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tr-TR" sz="24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90620" y="6733541"/>
            <a:ext cx="4688840" cy="14742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7/10</a:t>
            </a:r>
            <a:endParaRPr lang="en-US" sz="800" dirty="0"/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BACDEA24-F241-419B-B1B8-9D18F1CF9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15" y="1450407"/>
            <a:ext cx="2878045" cy="1717520"/>
          </a:xfrm>
          <a:prstGeom prst="rect">
            <a:avLst/>
          </a:prstGeom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2A83C695-53CD-4B12-8A9B-0327A284F876}"/>
              </a:ext>
            </a:extLst>
          </p:cNvPr>
          <p:cNvSpPr txBox="1"/>
          <p:nvPr/>
        </p:nvSpPr>
        <p:spPr>
          <a:xfrm>
            <a:off x="459515" y="3167927"/>
            <a:ext cx="28780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AWGN, both MCLDNN and PET-CGDNN reach around 90% accuracy at high SNR.</a:t>
            </a:r>
            <a:endParaRPr lang="tr-TR" sz="10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drops sharply in the low-SNR region, especially below -8 </a:t>
            </a:r>
            <a:r>
              <a:rPr lang="en-US" sz="10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</a:t>
            </a:r>
            <a:endParaRPr lang="tr-TR" sz="10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DBC45F3B-DAF3-4C6A-B796-09B4E4646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695" y="1082792"/>
            <a:ext cx="6374789" cy="2031016"/>
          </a:xfrm>
          <a:prstGeom prst="rect">
            <a:avLst/>
          </a:prstGeom>
        </p:spPr>
      </p:pic>
      <p:sp>
        <p:nvSpPr>
          <p:cNvPr id="24" name="Metin kutusu 23">
            <a:extLst>
              <a:ext uri="{FF2B5EF4-FFF2-40B4-BE49-F238E27FC236}">
                <a16:creationId xmlns:a16="http://schemas.microsoft.com/office/drawing/2014/main" id="{382C0B75-F961-460C-A0EF-3341089A6503}"/>
              </a:ext>
            </a:extLst>
          </p:cNvPr>
          <p:cNvSpPr txBox="1"/>
          <p:nvPr/>
        </p:nvSpPr>
        <p:spPr>
          <a:xfrm>
            <a:off x="4093724" y="3177815"/>
            <a:ext cx="651076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Fading-trained models also reach high accuracy, but performance depends on the channel type: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/>
              <a:t>Rayleigh: both models remain close to AWGN-level high-SNR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/>
              <a:t>Rician K=3: PET-CGDNN performs better than MCLDNN at high SNR.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/>
              <a:t>Rician K=10: MCLDNN clearly outperforms PET-CGDNN at high SNR.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In all cases, accuracy drops strongly below about -8 dB, showing that low-SNR AMR is still the hardest region.</a:t>
            </a:r>
            <a:endParaRPr lang="tr-TR" sz="1050" dirty="0"/>
          </a:p>
        </p:txBody>
      </p:sp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1C33C287-42A5-49AA-AABF-F50ADE45F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702131"/>
              </p:ext>
            </p:extLst>
          </p:nvPr>
        </p:nvGraphicFramePr>
        <p:xfrm>
          <a:off x="594360" y="4412355"/>
          <a:ext cx="4305612" cy="17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76403">
                  <a:extLst>
                    <a:ext uri="{9D8B030D-6E8A-4147-A177-3AD203B41FA5}">
                      <a16:colId xmlns:a16="http://schemas.microsoft.com/office/drawing/2014/main" val="3066493859"/>
                    </a:ext>
                  </a:extLst>
                </a:gridCol>
                <a:gridCol w="1076403">
                  <a:extLst>
                    <a:ext uri="{9D8B030D-6E8A-4147-A177-3AD203B41FA5}">
                      <a16:colId xmlns:a16="http://schemas.microsoft.com/office/drawing/2014/main" val="2174183814"/>
                    </a:ext>
                  </a:extLst>
                </a:gridCol>
                <a:gridCol w="1076403">
                  <a:extLst>
                    <a:ext uri="{9D8B030D-6E8A-4147-A177-3AD203B41FA5}">
                      <a16:colId xmlns:a16="http://schemas.microsoft.com/office/drawing/2014/main" val="680397508"/>
                    </a:ext>
                  </a:extLst>
                </a:gridCol>
                <a:gridCol w="1076403">
                  <a:extLst>
                    <a:ext uri="{9D8B030D-6E8A-4147-A177-3AD203B41FA5}">
                      <a16:colId xmlns:a16="http://schemas.microsoft.com/office/drawing/2014/main" val="4002803171"/>
                    </a:ext>
                  </a:extLst>
                </a:gridCol>
              </a:tblGrid>
              <a:tr h="258203">
                <a:tc>
                  <a:txBody>
                    <a:bodyPr/>
                    <a:lstStyle/>
                    <a:p>
                      <a:pPr algn="l" fontAlgn="t"/>
                      <a:r>
                        <a:rPr lang="tr-TR" sz="1000" b="1">
                          <a:solidFill>
                            <a:srgbClr val="CCCCCC"/>
                          </a:solidFill>
                          <a:effectLst/>
                        </a:rPr>
                        <a:t>Case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1000" b="1">
                          <a:solidFill>
                            <a:srgbClr val="CCCCCC"/>
                          </a:solidFill>
                          <a:effectLst/>
                        </a:rPr>
                        <a:t>Best Model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1000" b="1">
                          <a:solidFill>
                            <a:srgbClr val="CCCCCC"/>
                          </a:solidFill>
                          <a:effectLst/>
                        </a:rPr>
                        <a:t>Mean Acc.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1000" b="1">
                          <a:solidFill>
                            <a:srgbClr val="CCCCCC"/>
                          </a:solidFill>
                          <a:effectLst/>
                        </a:rPr>
                        <a:t>High-SNR Acc.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848346"/>
                  </a:ext>
                </a:extLst>
              </a:tr>
              <a:tr h="258203"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AWGN baseline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MCLDNN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61.27%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90.53%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171878"/>
                  </a:ext>
                </a:extLst>
              </a:tr>
              <a:tr h="490586"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Rayleigh trained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 dirty="0">
                          <a:effectLst/>
                        </a:rPr>
                        <a:t>MCLDNN / PET-CGDNN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60.69% / 60.64%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89.94% / 91.10%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227244"/>
                  </a:ext>
                </a:extLst>
              </a:tr>
              <a:tr h="336135"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Rician K=3 trained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PET-CGDNN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60.38%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89.90%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284683"/>
                  </a:ext>
                </a:extLst>
              </a:tr>
              <a:tr h="374393"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Rician K=10 trained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MCLDNN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>
                          <a:effectLst/>
                        </a:rPr>
                        <a:t>61.33%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000" dirty="0">
                          <a:effectLst/>
                        </a:rPr>
                        <a:t>90.73%</a:t>
                      </a:r>
                    </a:p>
                  </a:txBody>
                  <a:tcPr marL="30480" marR="3048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348140"/>
                  </a:ext>
                </a:extLst>
              </a:tr>
            </a:tbl>
          </a:graphicData>
        </a:graphic>
      </p:graphicFrame>
      <p:sp>
        <p:nvSpPr>
          <p:cNvPr id="29" name="Metin kutusu 28">
            <a:extLst>
              <a:ext uri="{FF2B5EF4-FFF2-40B4-BE49-F238E27FC236}">
                <a16:creationId xmlns:a16="http://schemas.microsoft.com/office/drawing/2014/main" id="{6E729790-C8DC-4555-AC2B-004FE51BFC0C}"/>
              </a:ext>
            </a:extLst>
          </p:cNvPr>
          <p:cNvSpPr txBox="1"/>
          <p:nvPr/>
        </p:nvSpPr>
        <p:spPr>
          <a:xfrm>
            <a:off x="5031128" y="5482267"/>
            <a:ext cx="444853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050" dirty="0"/>
              <a:t>T</a:t>
            </a:r>
            <a:r>
              <a:rPr lang="en-US" sz="1050" dirty="0"/>
              <a:t>raining on the new fading datasets keeps performance close to the AWGN baseline in Rayleigh and Rician K=10 for MCLDNN, while Rician K=3 favors PET-CGDNN.</a:t>
            </a:r>
            <a:endParaRPr lang="tr-TR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Effect of Fine-Tuning</a:t>
            </a:r>
            <a:endParaRPr lang="en-US" sz="2400" dirty="0"/>
          </a:p>
        </p:txBody>
      </p:sp>
      <p:pic>
        <p:nvPicPr>
          <p:cNvPr id="7" name="Image 0" descr="C:\Users\loues\Documents\Yazılım\ai\AMR-UnderDifferentNoises-DL\presentation_assets\fig_10_finetuned_accuracy_sn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901" y="1375133"/>
            <a:ext cx="4058195" cy="1660949"/>
          </a:xfrm>
          <a:prstGeom prst="rect">
            <a:avLst/>
          </a:prstGeom>
        </p:spPr>
      </p:pic>
      <p:pic>
        <p:nvPicPr>
          <p:cNvPr id="9" name="Image 1" descr="C:\Users\loues\Documents\Yazılım\ai\AMR-UnderDifferentNoises-DL\presentation_assets\fig_11_finetuning_gain_by_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13063"/>
            <a:ext cx="3090672" cy="15202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8/10</a:t>
            </a:r>
            <a:endParaRPr lang="en-US" sz="8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57B4C32D-57CC-421E-9513-B61F356C561D}"/>
              </a:ext>
            </a:extLst>
          </p:cNvPr>
          <p:cNvSpPr txBox="1"/>
          <p:nvPr/>
        </p:nvSpPr>
        <p:spPr>
          <a:xfrm>
            <a:off x="502920" y="1002045"/>
            <a:ext cx="60998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Can we do better by adapting AWGN-trained models instead of training only from scratch?</a:t>
            </a:r>
            <a:endParaRPr lang="tr-TR" sz="1100" b="1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AC5B2AB1-088E-4105-941B-3116FE84140A}"/>
              </a:ext>
            </a:extLst>
          </p:cNvPr>
          <p:cNvSpPr txBox="1"/>
          <p:nvPr/>
        </p:nvSpPr>
        <p:spPr>
          <a:xfrm>
            <a:off x="502920" y="3205088"/>
            <a:ext cx="971463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We fine-tuned AWGN-pretrained models on the generated fading datasets.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Fine-tuning effect was </a:t>
            </a:r>
            <a:r>
              <a:rPr lang="en-US" sz="1100" b="1" i="0" dirty="0">
                <a:effectLst/>
                <a:latin typeface="+mj-lt"/>
              </a:rPr>
              <a:t>not uniform across all channels</a:t>
            </a:r>
            <a:r>
              <a:rPr lang="en-US" sz="1100" b="0" i="0" dirty="0">
                <a:effectLst/>
                <a:latin typeface="+mj-l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The largest positive gains were observed in: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+mj-lt"/>
              </a:rPr>
              <a:t>MCLDNN on Rician K=3:</a:t>
            </a:r>
            <a:r>
              <a:rPr lang="en-US" sz="1100" b="0" i="0" dirty="0">
                <a:effectLst/>
                <a:latin typeface="+mj-lt"/>
              </a:rPr>
              <a:t> +3.10 percentage points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+mj-lt"/>
              </a:rPr>
              <a:t>PET-CGDNN on Rician K=10:</a:t>
            </a:r>
            <a:r>
              <a:rPr lang="en-US" sz="1100" b="0" i="0" dirty="0">
                <a:effectLst/>
                <a:latin typeface="+mj-lt"/>
              </a:rPr>
              <a:t> +2.85 percentage points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Some cases showed small negative gains, especially under Rayleigh.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+mj-lt"/>
              </a:rPr>
              <a:t>This suggests that fine-tuning helps most when the target channel differs enough from AWGN but still preserves learnable signal structure.</a:t>
            </a:r>
          </a:p>
        </p:txBody>
      </p:sp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77E54A3B-C810-4223-A964-73BF4A6FC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591875"/>
              </p:ext>
            </p:extLst>
          </p:nvPr>
        </p:nvGraphicFramePr>
        <p:xfrm>
          <a:off x="8474443" y="1613063"/>
          <a:ext cx="3486220" cy="14013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97244">
                  <a:extLst>
                    <a:ext uri="{9D8B030D-6E8A-4147-A177-3AD203B41FA5}">
                      <a16:colId xmlns:a16="http://schemas.microsoft.com/office/drawing/2014/main" val="2170970749"/>
                    </a:ext>
                  </a:extLst>
                </a:gridCol>
                <a:gridCol w="697244">
                  <a:extLst>
                    <a:ext uri="{9D8B030D-6E8A-4147-A177-3AD203B41FA5}">
                      <a16:colId xmlns:a16="http://schemas.microsoft.com/office/drawing/2014/main" val="4211280681"/>
                    </a:ext>
                  </a:extLst>
                </a:gridCol>
                <a:gridCol w="697244">
                  <a:extLst>
                    <a:ext uri="{9D8B030D-6E8A-4147-A177-3AD203B41FA5}">
                      <a16:colId xmlns:a16="http://schemas.microsoft.com/office/drawing/2014/main" val="1925181822"/>
                    </a:ext>
                  </a:extLst>
                </a:gridCol>
                <a:gridCol w="697244">
                  <a:extLst>
                    <a:ext uri="{9D8B030D-6E8A-4147-A177-3AD203B41FA5}">
                      <a16:colId xmlns:a16="http://schemas.microsoft.com/office/drawing/2014/main" val="1841649276"/>
                    </a:ext>
                  </a:extLst>
                </a:gridCol>
                <a:gridCol w="697244">
                  <a:extLst>
                    <a:ext uri="{9D8B030D-6E8A-4147-A177-3AD203B41FA5}">
                      <a16:colId xmlns:a16="http://schemas.microsoft.com/office/drawing/2014/main" val="4224710116"/>
                    </a:ext>
                  </a:extLst>
                </a:gridCol>
              </a:tblGrid>
              <a:tr h="349164">
                <a:tc>
                  <a:txBody>
                    <a:bodyPr/>
                    <a:lstStyle/>
                    <a:p>
                      <a:pPr algn="l" fontAlgn="t"/>
                      <a:r>
                        <a:rPr lang="tr-TR" sz="800" b="1">
                          <a:solidFill>
                            <a:srgbClr val="CCCCCC"/>
                          </a:solidFill>
                          <a:effectLst/>
                        </a:rPr>
                        <a:t>Channel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800" b="1">
                          <a:solidFill>
                            <a:srgbClr val="CCCCCC"/>
                          </a:solidFill>
                          <a:effectLst/>
                        </a:rPr>
                        <a:t>Model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800" b="1">
                          <a:solidFill>
                            <a:srgbClr val="CCCCCC"/>
                          </a:solidFill>
                          <a:effectLst/>
                        </a:rPr>
                        <a:t>Fading-trained Mean Acc.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800" b="1">
                          <a:solidFill>
                            <a:srgbClr val="CCCCCC"/>
                          </a:solidFill>
                          <a:effectLst/>
                        </a:rPr>
                        <a:t>Fine-tuned Mean Acc.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800" b="1">
                          <a:solidFill>
                            <a:srgbClr val="CCCCCC"/>
                          </a:solidFill>
                          <a:effectLst/>
                        </a:rPr>
                        <a:t>Gain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279346"/>
                  </a:ext>
                </a:extLst>
              </a:tr>
              <a:tr h="142528"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Rayleigh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 dirty="0">
                          <a:effectLst/>
                        </a:rPr>
                        <a:t>MCLDNN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60.69%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60.40%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-0.29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13676"/>
                  </a:ext>
                </a:extLst>
              </a:tr>
              <a:tr h="180659"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Rayleigh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PET-CGDNN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60.64%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58.78%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-1.86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770746"/>
                  </a:ext>
                </a:extLst>
              </a:tr>
              <a:tr h="142528"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Rician K=3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 dirty="0">
                          <a:effectLst/>
                        </a:rPr>
                        <a:t>MCLDNN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57.67%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60.78%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+3.10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640552"/>
                  </a:ext>
                </a:extLst>
              </a:tr>
              <a:tr h="180659"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Rician K=3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PET-CGDNN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60.38%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59.84%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-0.54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20895"/>
                  </a:ext>
                </a:extLst>
              </a:tr>
              <a:tr h="180659"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Rician K=10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MCLDNN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61.33%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60.94%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-0.39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53877"/>
                  </a:ext>
                </a:extLst>
              </a:tr>
              <a:tr h="180659"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Rician K=10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PET-CGDNN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57.55%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>
                          <a:effectLst/>
                        </a:rPr>
                        <a:t>60.40%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800" dirty="0">
                          <a:effectLst/>
                        </a:rPr>
                        <a:t>+2.85</a:t>
                      </a:r>
                    </a:p>
                  </a:txBody>
                  <a:tcPr marL="21435" marR="21435" marT="21435" marB="214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594149"/>
                  </a:ext>
                </a:extLst>
              </a:tr>
            </a:tbl>
          </a:graphicData>
        </a:graphic>
      </p:graphicFrame>
      <p:pic>
        <p:nvPicPr>
          <p:cNvPr id="25" name="Resim 24">
            <a:extLst>
              <a:ext uri="{FF2B5EF4-FFF2-40B4-BE49-F238E27FC236}">
                <a16:creationId xmlns:a16="http://schemas.microsoft.com/office/drawing/2014/main" id="{B01BFA13-96CA-49D4-984B-1779A8CA8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39" y="4605213"/>
            <a:ext cx="2433593" cy="1617321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C26A3D6D-148E-4AA7-979D-80FE17207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7367" y="4605212"/>
            <a:ext cx="2433592" cy="1617322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0512C714-531E-4F0C-9310-14DF3BF2AE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4593866"/>
            <a:ext cx="2433592" cy="1617321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EB87A60D-B4A8-409A-84EC-9AACF9BD36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6894" y="4565933"/>
            <a:ext cx="2561317" cy="17022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90C87B54-D21E-4CA9-899C-EF85EF0E4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268" y="3852465"/>
            <a:ext cx="7198532" cy="229346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Results Show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345144"/>
            <a:ext cx="5140615" cy="20838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j-lt"/>
              </a:rPr>
              <a:t>Across all experiments, accuracy drops sharply below around </a:t>
            </a:r>
            <a:r>
              <a:rPr lang="en-US" sz="1600" b="1" i="0" dirty="0">
                <a:effectLst/>
                <a:latin typeface="+mj-lt"/>
              </a:rPr>
              <a:t>-8 </a:t>
            </a:r>
            <a:r>
              <a:rPr lang="en-US" sz="1600" b="1" i="0" dirty="0" err="1">
                <a:effectLst/>
                <a:latin typeface="+mj-lt"/>
              </a:rPr>
              <a:t>dB</a:t>
            </a:r>
            <a:r>
              <a:rPr lang="en-US" sz="1600" b="0" i="0" dirty="0" err="1">
                <a:effectLst/>
                <a:latin typeface="+mj-lt"/>
              </a:rPr>
              <a:t>.</a:t>
            </a:r>
            <a:br>
              <a:rPr lang="en-US" sz="1600" b="0" i="0" dirty="0">
                <a:effectLst/>
                <a:latin typeface="+mj-lt"/>
              </a:rPr>
            </a:br>
            <a:r>
              <a:rPr lang="en-US" sz="1600" b="0" i="0" dirty="0">
                <a:effectLst/>
                <a:latin typeface="+mj-lt"/>
              </a:rPr>
              <a:t>This shows that low-SNR AMR remains difficult even after training on fading-channel datasets.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j-lt"/>
              </a:rPr>
              <a:t>Training on Rayleigh and Rician datasets helps evaluate robustness under more realistic SISO channels, but it does not completely solve the low-SNR problem.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j-lt"/>
              </a:rPr>
              <a:t>The most useful improvements are seen in the </a:t>
            </a:r>
            <a:r>
              <a:rPr lang="en-US" sz="1600" b="1" i="0" dirty="0">
                <a:effectLst/>
                <a:latin typeface="+mj-lt"/>
              </a:rPr>
              <a:t>transition region</a:t>
            </a:r>
            <a:r>
              <a:rPr lang="en-US" sz="1600" b="0" i="0" dirty="0">
                <a:effectLst/>
                <a:latin typeface="+mj-lt"/>
              </a:rPr>
              <a:t> between about </a:t>
            </a:r>
            <a:r>
              <a:rPr lang="en-US" sz="1600" b="1" i="0" dirty="0">
                <a:effectLst/>
                <a:latin typeface="+mj-lt"/>
              </a:rPr>
              <a:t>-8 dB and 0 dB</a:t>
            </a:r>
            <a:r>
              <a:rPr lang="en-US" sz="1600" b="0" i="0" dirty="0">
                <a:effectLst/>
                <a:latin typeface="+mj-lt"/>
              </a:rPr>
              <a:t>, where the models start recovering from near-random classification to reliable recognition.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j-lt"/>
              </a:rPr>
              <a:t>At very low SNR values, such as </a:t>
            </a:r>
            <a:r>
              <a:rPr lang="en-US" sz="1600" b="1" i="0" dirty="0">
                <a:effectLst/>
                <a:latin typeface="+mj-lt"/>
              </a:rPr>
              <a:t>-20 dB to -12 dB</a:t>
            </a:r>
            <a:r>
              <a:rPr lang="en-US" sz="1600" b="0" i="0" dirty="0">
                <a:effectLst/>
                <a:latin typeface="+mj-lt"/>
              </a:rPr>
              <a:t>, the models remain close to chance-level accuracy because the signal features are heavily buried in noise.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j-lt"/>
              </a:rPr>
              <a:t>Therefore, our method improves the evaluation and adaptation pipeline, but future work should focus more directly on </a:t>
            </a:r>
            <a:r>
              <a:rPr lang="en-US" sz="1600" b="1" i="0" dirty="0">
                <a:effectLst/>
                <a:latin typeface="+mj-lt"/>
              </a:rPr>
              <a:t>low-SNR-specific training strategies</a:t>
            </a:r>
            <a:endParaRPr lang="en-US" sz="1600" b="0" i="0" dirty="0">
              <a:effectLst/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9/10</a:t>
            </a:r>
            <a:endParaRPr lang="en-US" sz="800" dirty="0"/>
          </a:p>
        </p:txBody>
      </p:sp>
      <p:graphicFrame>
        <p:nvGraphicFramePr>
          <p:cNvPr id="17" name="Tablo 16">
            <a:extLst>
              <a:ext uri="{FF2B5EF4-FFF2-40B4-BE49-F238E27FC236}">
                <a16:creationId xmlns:a16="http://schemas.microsoft.com/office/drawing/2014/main" id="{FDF6A63E-2A28-4366-9631-109D500E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29831"/>
              </p:ext>
            </p:extLst>
          </p:nvPr>
        </p:nvGraphicFramePr>
        <p:xfrm>
          <a:off x="6880193" y="1197863"/>
          <a:ext cx="4505640" cy="21767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6410">
                  <a:extLst>
                    <a:ext uri="{9D8B030D-6E8A-4147-A177-3AD203B41FA5}">
                      <a16:colId xmlns:a16="http://schemas.microsoft.com/office/drawing/2014/main" val="1219853175"/>
                    </a:ext>
                  </a:extLst>
                </a:gridCol>
                <a:gridCol w="1126410">
                  <a:extLst>
                    <a:ext uri="{9D8B030D-6E8A-4147-A177-3AD203B41FA5}">
                      <a16:colId xmlns:a16="http://schemas.microsoft.com/office/drawing/2014/main" val="3549578404"/>
                    </a:ext>
                  </a:extLst>
                </a:gridCol>
                <a:gridCol w="1126410">
                  <a:extLst>
                    <a:ext uri="{9D8B030D-6E8A-4147-A177-3AD203B41FA5}">
                      <a16:colId xmlns:a16="http://schemas.microsoft.com/office/drawing/2014/main" val="3765753559"/>
                    </a:ext>
                  </a:extLst>
                </a:gridCol>
                <a:gridCol w="1126410">
                  <a:extLst>
                    <a:ext uri="{9D8B030D-6E8A-4147-A177-3AD203B41FA5}">
                      <a16:colId xmlns:a16="http://schemas.microsoft.com/office/drawing/2014/main" val="685284129"/>
                    </a:ext>
                  </a:extLst>
                </a:gridCol>
              </a:tblGrid>
              <a:tr h="331240">
                <a:tc>
                  <a:txBody>
                    <a:bodyPr/>
                    <a:lstStyle/>
                    <a:p>
                      <a:pPr algn="l" fontAlgn="t"/>
                      <a:r>
                        <a:rPr lang="tr-TR" sz="1100" b="1" dirty="0" err="1">
                          <a:solidFill>
                            <a:schemeClr val="tx1"/>
                          </a:solidFill>
                          <a:effectLst/>
                        </a:rPr>
                        <a:t>Summary</a:t>
                      </a:r>
                      <a:r>
                        <a:rPr lang="tr-TR" sz="1100" b="1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tr-TR" sz="1100" b="1" dirty="0" err="1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tr-TR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1100" b="1">
                          <a:solidFill>
                            <a:schemeClr val="tx1"/>
                          </a:solidFill>
                          <a:effectLst/>
                        </a:rPr>
                        <a:t>Best Result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1100" b="1" dirty="0" err="1">
                          <a:solidFill>
                            <a:schemeClr val="tx1"/>
                          </a:solidFill>
                          <a:effectLst/>
                        </a:rPr>
                        <a:t>Strategy</a:t>
                      </a:r>
                      <a:endParaRPr lang="tr-TR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r-TR" sz="1100" b="1">
                          <a:solidFill>
                            <a:schemeClr val="tx1"/>
                          </a:solidFill>
                          <a:effectLst/>
                        </a:rPr>
                        <a:t>Mean Accuracy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268189"/>
                  </a:ext>
                </a:extLst>
              </a:tr>
              <a:tr h="343121"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Best AWGN baseline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MCLDNN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AWGN </a:t>
                      </a:r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baseline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61.27%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758046"/>
                  </a:ext>
                </a:extLst>
              </a:tr>
              <a:tr h="331240"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Best on Rayleigh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MCLDNN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Fading-trained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60.69%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008077"/>
                  </a:ext>
                </a:extLst>
              </a:tr>
              <a:tr h="331240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Best on Rician K=3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MCLDNN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 err="1">
                          <a:solidFill>
                            <a:schemeClr val="tx1"/>
                          </a:solidFill>
                          <a:effectLst/>
                        </a:rPr>
                        <a:t>Fine-tuned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60.78%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351879"/>
                  </a:ext>
                </a:extLst>
              </a:tr>
              <a:tr h="331240"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Best on Rician K=10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MCLDNN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Fading-trained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61.33%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7529"/>
                  </a:ext>
                </a:extLst>
              </a:tr>
              <a:tr h="343121"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Best low-SNR mean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MCLDNN / Rician K=10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>
                          <a:solidFill>
                            <a:schemeClr val="tx1"/>
                          </a:solidFill>
                          <a:effectLst/>
                        </a:rPr>
                        <a:t>Fading-trained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tr-TR" sz="1100" dirty="0">
                          <a:solidFill>
                            <a:schemeClr val="tx1"/>
                          </a:solidFill>
                          <a:effectLst/>
                        </a:rPr>
                        <a:t>37.05%</a:t>
                      </a:r>
                    </a:p>
                  </a:txBody>
                  <a:tcPr marL="21648" marR="21648" marT="21648" marB="216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0147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5777144" cy="2545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We extended the AMR benchmark from only </a:t>
            </a:r>
            <a:r>
              <a:rPr lang="en-US" b="1" i="0" dirty="0">
                <a:effectLst/>
                <a:latin typeface="+mj-lt"/>
              </a:rPr>
              <a:t>AWGN</a:t>
            </a:r>
            <a:r>
              <a:rPr lang="en-US" b="0" i="0" dirty="0">
                <a:effectLst/>
                <a:latin typeface="+mj-lt"/>
              </a:rPr>
              <a:t> evaluation to more realistic </a:t>
            </a:r>
            <a:r>
              <a:rPr lang="en-US" b="1" i="0" dirty="0">
                <a:effectLst/>
                <a:latin typeface="+mj-lt"/>
              </a:rPr>
              <a:t>SISO fading channels</a:t>
            </a:r>
            <a:r>
              <a:rPr lang="en-US" b="0" i="0" dirty="0">
                <a:effectLst/>
                <a:latin typeface="+mj-l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We generated and tested additional datasets with: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+mj-lt"/>
              </a:rPr>
              <a:t>Rayleigh fading</a:t>
            </a:r>
            <a:endParaRPr lang="en-US" b="0" i="0" dirty="0"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+mj-lt"/>
              </a:rPr>
              <a:t>Rician K=3</a:t>
            </a:r>
            <a:endParaRPr lang="en-US" b="0" i="0" dirty="0"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+mj-lt"/>
              </a:rPr>
              <a:t>Rician K=10</a:t>
            </a:r>
            <a:endParaRPr lang="en-US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Results show that high-SNR performance can remain close to the AWGN baseline, but </a:t>
            </a:r>
            <a:r>
              <a:rPr lang="en-US" b="1" i="0" dirty="0">
                <a:effectLst/>
                <a:latin typeface="+mj-lt"/>
              </a:rPr>
              <a:t>low-SNR recognition is still the main limitation</a:t>
            </a:r>
            <a:r>
              <a:rPr lang="en-US" b="0" i="0" dirty="0">
                <a:effectLst/>
                <a:latin typeface="+mj-l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Fine-tuning helps AWGN-pretrained models adapt to fading channels, but the best strategy depends on the </a:t>
            </a:r>
            <a:r>
              <a:rPr lang="en-US" b="1" i="0" dirty="0">
                <a:effectLst/>
                <a:latin typeface="+mj-lt"/>
              </a:rPr>
              <a:t>model and channel type</a:t>
            </a:r>
            <a:r>
              <a:rPr lang="en-US" b="0" i="0" dirty="0">
                <a:effectLst/>
                <a:latin typeface="+mj-l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Overall, </a:t>
            </a:r>
            <a:r>
              <a:rPr lang="en-US" b="1" i="0" dirty="0">
                <a:effectLst/>
                <a:latin typeface="+mj-lt"/>
              </a:rPr>
              <a:t>MCLDNN showed the most stable performance</a:t>
            </a:r>
            <a:r>
              <a:rPr lang="en-US" b="0" i="0" dirty="0">
                <a:effectLst/>
                <a:latin typeface="+mj-lt"/>
              </a:rPr>
              <a:t> across the tested channel conditions</a:t>
            </a:r>
          </a:p>
        </p:txBody>
      </p:sp>
      <p:sp>
        <p:nvSpPr>
          <p:cNvPr id="8" name="Shape 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3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10/10</a:t>
            </a:r>
            <a:endParaRPr lang="en-US" sz="8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D745C88-AD3B-466B-865A-8F7362E11CBE}"/>
              </a:ext>
            </a:extLst>
          </p:cNvPr>
          <p:cNvSpPr txBox="1"/>
          <p:nvPr/>
        </p:nvSpPr>
        <p:spPr>
          <a:xfrm>
            <a:off x="6462944" y="3153721"/>
            <a:ext cx="50127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i="0" dirty="0">
                <a:effectLst/>
                <a:latin typeface="+mj-lt"/>
              </a:rPr>
              <a:t>Future Work</a:t>
            </a:r>
            <a:endParaRPr lang="en-US" b="0" i="0" dirty="0">
              <a:effectLst/>
              <a:latin typeface="+mj-lt"/>
            </a:endParaRPr>
          </a:p>
          <a:p>
            <a:pPr algn="r">
              <a:buFont typeface="Arial" panose="020B0604020202020204" pitchFamily="34" charset="0"/>
              <a:buChar char="•"/>
            </a:pPr>
            <a:r>
              <a:rPr lang="tr-TR" b="0" i="0" dirty="0">
                <a:effectLst/>
                <a:latin typeface="+mj-lt"/>
              </a:rPr>
              <a:t>--</a:t>
            </a:r>
            <a:r>
              <a:rPr lang="en-US" b="0" i="0" dirty="0">
                <a:effectLst/>
                <a:latin typeface="+mj-lt"/>
              </a:rPr>
              <a:t>Develop training methods specifically targeting </a:t>
            </a:r>
            <a:r>
              <a:rPr lang="en-US" b="1" i="0" dirty="0">
                <a:effectLst/>
                <a:latin typeface="+mj-lt"/>
              </a:rPr>
              <a:t>very low SNR</a:t>
            </a:r>
            <a:r>
              <a:rPr lang="en-US" b="0" i="0" dirty="0">
                <a:effectLst/>
                <a:latin typeface="+mj-lt"/>
              </a:rPr>
              <a:t> conditions.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tr-TR" b="0" i="0" dirty="0">
                <a:effectLst/>
                <a:latin typeface="+mj-lt"/>
              </a:rPr>
              <a:t>--</a:t>
            </a:r>
            <a:r>
              <a:rPr lang="en-US" b="0" i="0" dirty="0">
                <a:effectLst/>
                <a:latin typeface="+mj-lt"/>
              </a:rPr>
              <a:t>Add more realistic channel effects such as Doppler shift, multipath delay, and frequency offset.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tr-TR" b="0" i="0" dirty="0">
                <a:effectLst/>
                <a:latin typeface="+mj-lt"/>
              </a:rPr>
              <a:t>--</a:t>
            </a:r>
            <a:r>
              <a:rPr lang="en-US" b="0" i="0" dirty="0">
                <a:effectLst/>
                <a:latin typeface="+mj-lt"/>
              </a:rPr>
              <a:t>Test on larger or real over-the-air RF datasets.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tr-TR" b="0" i="0" dirty="0">
                <a:effectLst/>
                <a:latin typeface="+mj-lt"/>
              </a:rPr>
              <a:t>--</a:t>
            </a:r>
            <a:r>
              <a:rPr lang="en-US" b="0" i="0" dirty="0">
                <a:effectLst/>
                <a:latin typeface="+mj-lt"/>
              </a:rPr>
              <a:t>Explore hybrid strategies: multi-channel training, data augmentation, and domain adaptation.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tr-TR" b="0" i="0" dirty="0">
                <a:effectLst/>
                <a:latin typeface="+mj-lt"/>
              </a:rPr>
              <a:t>--</a:t>
            </a:r>
            <a:r>
              <a:rPr lang="en-US" b="0" i="0" dirty="0">
                <a:effectLst/>
                <a:latin typeface="+mj-lt"/>
              </a:rPr>
              <a:t>Optimize the models for real-time or embedded AMR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1479</Words>
  <Application>Microsoft Office PowerPoint</Application>
  <PresentationFormat>Geniş ekran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Istanbul Technical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AMR Under Different SISO Channel Conditions</dc:title>
  <dc:subject>Deep Learning-Based Automatic Modulation Recognition under Different SISO Channel Conditions</dc:subject>
  <dc:creator>AMR Under Different Noises Team</dc:creator>
  <cp:lastModifiedBy>Erkam Tuğ</cp:lastModifiedBy>
  <cp:revision>13</cp:revision>
  <dcterms:created xsi:type="dcterms:W3CDTF">2026-05-12T00:21:06Z</dcterms:created>
  <dcterms:modified xsi:type="dcterms:W3CDTF">2026-05-12T01:48:05Z</dcterms:modified>
</cp:coreProperties>
</file>